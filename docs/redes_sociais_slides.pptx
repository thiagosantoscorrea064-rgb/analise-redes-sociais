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1005840"/>
            <a:ext cx="6949440" cy="3108960"/>
          </a:xfrm>
          <a:prstGeom prst="roundRect">
            <a:avLst>
              <a:gd name="adj" fmla="val 4412"/>
            </a:avLst>
          </a:prstGeom>
          <a:solidFill>
            <a:srgbClr val="0F1A3E">
              <a:alpha val="70000"/>
            </a:srgbClr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1280160" y="123444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de Redes Sociais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280160" y="205740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Paradigmas · Um Problema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1371600" y="283464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283464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Orientação a Objetos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931920" y="283464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28346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2834640"/>
            <a:ext cx="1737360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0" y="283464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0" y="4663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Laboratório de Programação — 2026/1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374904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14300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Modelar uma rede social onde usuários se seguem e o sistema responde: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3749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uma pessoa segue diretamente?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Quantos graus de separação existem entre dois usuários?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duas pessoas têm em comum?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o sistema deve recomendar como nova conexão?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central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mesmo problema foi implementado três vezes — em paradigmas distintos, com os mesmos dados de teste.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937760" y="310896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usuários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conexões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paradigmas</a:t>
            </a:r>
            <a:endParaRPr lang="en-US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Rede de Exemplo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Mesmos dados nas 3 implementações — comparação justa entre paradigmas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5029200" cy="3657600"/>
        </p:xfrm>
        <a:graphic>
          <a:graphicData uri="http://schemas.openxmlformats.org/drawingml/2006/table">
            <a:tbl>
              <a:tblPr/>
              <a:tblGrid>
                <a:gridCol w="1645920"/>
                <a:gridCol w="3383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Usuário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Bob, Carol, Dave, Eve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Carol, Eve, Grace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Dave, Frank, Heidi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Eve, Grace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Heidi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Ivan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234440"/>
            <a:ext cx="2926080" cy="3657600"/>
          </a:xfrm>
          <a:prstGeom prst="roundRect">
            <a:avLst>
              <a:gd name="adj" fmla="val 375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60720" y="146304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5760720" y="20299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760720" y="25603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5760720" y="312724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conexões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760720" y="365760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5760720" y="42245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ciclo (Judy→Alice)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— Orientação a Objetos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45720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Usuario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4813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do grafo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_seguindo e _seguidores como sets O(1)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9184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Conexao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83280" y="14813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Aresta direcionada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Extensível com metadados futuros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56032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12648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RedeSocial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17920" y="148132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central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algoritmos (BFS, recomendações)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60320"/>
            <a:ext cx="402336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" y="26974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classes?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3840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estado muda com o tempo (seguir, deixar de seguir). Objetos encapsulam mutação de forma natural. Acesso O(1) aos seguidores.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2560320"/>
            <a:ext cx="3931920" cy="2286000"/>
          </a:xfrm>
          <a:prstGeom prst="roundRect">
            <a:avLst>
              <a:gd name="adj" fmla="val 4800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92040" y="265176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Usuario: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__init__(self, nome):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self._seguindo = set()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self._seguidores = set()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@property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def seguindo(self):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frozenset(self._seguindo)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Prolog — Paradigma Lógico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48640" y="1097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Fatos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508760"/>
            <a:ext cx="3840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segue(alice, bob).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segue(alice, carol).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segue(bob,   grace).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 ... 18 fatos no total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amigo_de_amigo(A, C) :-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segue(A, B),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segue(B, C),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 \= C,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\+ segue(A, C).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83480" y="107899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O que se ganha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48132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declarativas. O programador diz O QUÊ, não COMO. Backtracking automático varre o grafo.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2971800"/>
            <a:ext cx="3840480" cy="173736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30449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O que se perde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83480" y="3447288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explícito de eficiência. BFS precisa ser simulado com listas auxiliares.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 Lisp — Paradigma Funcional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417320"/>
          </a:xfrm>
          <a:prstGeom prst="roundRect">
            <a:avLst>
              <a:gd name="adj" fmla="val 7742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59436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Filosofia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43560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objeto mutável. O grafo é um valor imutável — construído uma vez, apenas lido. Toda consulta é uma função pura.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40233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26517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de Recomendações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09067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0906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mapcan  — coleta amigos dos amigos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94360" y="350215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35204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remove-if  — exclui quem já segue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391363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39319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contar-ocorrencias  — cria pontuação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4360" y="4325112"/>
            <a:ext cx="274320" cy="274320"/>
          </a:xfrm>
          <a:prstGeom prst="roundRect">
            <a:avLst>
              <a:gd name="adj" fmla="val 16667"/>
            </a:avLst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43251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60120" y="43434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sort  — ordena por relevância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3931920" cy="3749040"/>
          </a:xfrm>
          <a:prstGeom prst="roundRect">
            <a:avLst>
              <a:gd name="adj" fmla="val 292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1097280"/>
            <a:ext cx="36576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(defun sugerir-conexoes (grafo nome)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(let*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((ja-segue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(cons nome (seguindo grafo nome)))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(brutos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(mapcan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(lambda (a) (seguindo grafo a))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(seguindo grafo nome)))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(validos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(remove-if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(lambda (c) (member c ja-segue))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brutos))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(contagens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(contar-ocorrencias validos)))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(sort contagens #'compara)))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BFS: O Mesmo Algoritmo em Três Estilos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89888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1463040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fila = deque([(origem, 0)])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visitados = {origem}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 fila: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atual, d = fila.popleft()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v in seguindo[atual]: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 == destino: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return d + 1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v not in visitados: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fila.append((v, d+1))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420624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42519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deque mutável local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em variáveis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72968" y="91440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/>
        </p:spPr>
      </p:sp>
      <p:sp>
        <p:nvSpPr>
          <p:cNvPr id="10" name="Text 8"/>
          <p:cNvSpPr/>
          <p:nvPr/>
        </p:nvSpPr>
        <p:spPr>
          <a:xfrm>
            <a:off x="3172968" y="914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Prolog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72968" y="1389888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64408" y="1463040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bfs(Front, Dest, _, 0) :-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member(Dest, Front), !.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bfs(Front, Dest, Vis, D) :-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findall(V,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(member(N,Front),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segue(N,V),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\+member(V,Vis)),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Prox),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bfs(Prox,Dest,Vis2,D0),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 is D0 + 1.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420624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64408" y="42519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Listas como fila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controla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25896" y="91440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/>
        </p:spPr>
      </p:sp>
      <p:sp>
        <p:nvSpPr>
          <p:cNvPr id="16" name="Text 14"/>
          <p:cNvSpPr/>
          <p:nvPr/>
        </p:nvSpPr>
        <p:spPr>
          <a:xfrm>
            <a:off x="6025896" y="914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Lisp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25896" y="1389888"/>
            <a:ext cx="2651760" cy="2743200"/>
          </a:xfrm>
          <a:prstGeom prst="roundRect">
            <a:avLst>
              <a:gd name="adj" fmla="val 3448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117336" y="1463040"/>
            <a:ext cx="246888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(labels ((bfs (front vis 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(cond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((member dest front) d)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(let* ((viz (mapcan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(lambda (n)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(seguindo g n))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front))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(novos (remove-if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(lambda (v)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(member v vis))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viz)))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(bfs novos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(union novos vis)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(1+ d)))))))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025896" y="4206240"/>
            <a:ext cx="2651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117336" y="4251960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Recursão explícita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como parâmetros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Técnica</a:t>
            </a:r>
            <a:endParaRPr lang="en-US" sz="3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96112"/>
          <a:ext cx="8229600" cy="3931920"/>
        </p:xfrm>
        <a:graphic>
          <a:graphicData uri="http://schemas.openxmlformats.org/drawingml/2006/table">
            <a:tbl>
              <a:tblPr/>
              <a:tblGrid>
                <a:gridCol w="1920240"/>
                <a:gridCol w="2103120"/>
                <a:gridCol w="2103120"/>
                <a:gridCol w="2103120"/>
              </a:tblGrid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(OO)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Prolog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5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Mutável (sets)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Fatos estáticos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Imutável (valores)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deque + vars locais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Listas como fila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Recursão c/ parâmetros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Amigos em comum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&amp; set — O(min)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intersection/3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intersection nativa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Recomendações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defaultdict + loop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findall + msort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mapcan → sort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Seguidores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 interno O(1)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Busca reversa auto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Varredura O(n)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77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Legibilidade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Alta, explícita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Altíssima (decl.)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Média (sintaxe densa)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Facilidades e Dificuldades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3B82F6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29768" y="1444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Facilitou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29768" y="17830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mutável natural em OO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set, deque, defaultdict prontos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simples e rastreável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3200400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" y="32735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Dificultou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3611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loops aninhados para amigos de amigos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sets sincronizados manualmente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172968" y="9144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8B5CF6"/>
          </a:solidFill>
          <a:ln/>
        </p:spPr>
      </p:sp>
      <p:sp>
        <p:nvSpPr>
          <p:cNvPr id="12" name="Text 10"/>
          <p:cNvSpPr/>
          <p:nvPr/>
        </p:nvSpPr>
        <p:spPr>
          <a:xfrm>
            <a:off x="3172968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Prolog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172968" y="13716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82696" y="1444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Facilitou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82696" y="17830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amigo_de_amigo em 4 linhas declarativas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 ad-hoc sem recompilar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Backtracking grátis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172968" y="3200400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82696" y="32735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Dificultou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82696" y="3611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exige simulação com listas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Ordenação por score mais verbosa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25896" y="914400"/>
            <a:ext cx="2651760" cy="384048"/>
          </a:xfrm>
          <a:prstGeom prst="roundRect">
            <a:avLst>
              <a:gd name="adj" fmla="val 19048"/>
            </a:avLst>
          </a:prstGeom>
          <a:solidFill>
            <a:srgbClr val="22C55E"/>
          </a:solidFill>
          <a:ln/>
        </p:spPr>
      </p:sp>
      <p:sp>
        <p:nvSpPr>
          <p:cNvPr id="20" name="Text 18"/>
          <p:cNvSpPr/>
          <p:nvPr/>
        </p:nvSpPr>
        <p:spPr>
          <a:xfrm>
            <a:off x="6025896" y="9144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Lisp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25896" y="1371600"/>
            <a:ext cx="265176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35624" y="14447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Facilitou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135624" y="178308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sem efeitos colaterais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 e sort composáveis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risco de dessincronização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025896" y="3200400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35624" y="3273552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⚠️ Dificultou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135624" y="3611880"/>
            <a:ext cx="2423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Sintaxe densa, muitos parênteses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Seguidores exige varredura O(n)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91440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914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 (Python)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quando o estado muda ao longo do tempo e a modelagem do domínio é central.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72968" y="9144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3172968" y="91440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3172968" y="914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Lógico (Prolog)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310128" y="141732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para consultas sobre relações e inferência — o grafo social é o problema natural do Prolog.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25896" y="91440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025896" y="91440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22C55E"/>
          </a:solidFill>
          <a:ln/>
        </p:spPr>
      </p:sp>
      <p:sp>
        <p:nvSpPr>
          <p:cNvPr id="13" name="Text 11"/>
          <p:cNvSpPr/>
          <p:nvPr/>
        </p:nvSpPr>
        <p:spPr>
          <a:xfrm>
            <a:off x="6025896" y="9144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 (Lisp)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163056" y="1417320"/>
            <a:ext cx="2377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Superior para pipelines sem efeitos colaterais — garante ausência de bugs de sincronização.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42900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0F1A3E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5204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Faria sentido uma linguagem reunir os três?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3959352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— Scala, Clojure e Kotlin já tentam. Mas a expressividade de cada paradigma em seu domínio natural ainda não foi igualada por nenhuma linguagem híbrida.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Análise de Redes Sociais — Três Paradigmas</dc:title>
  <dc:subject>PptxGenJS Presentation</dc:subject>
  <dc:creator>PptxGenJS</dc:creator>
  <cp:lastModifiedBy>PptxGenJS</cp:lastModifiedBy>
  <cp:revision>1</cp:revision>
  <dcterms:created xsi:type="dcterms:W3CDTF">2026-06-23T21:45:47Z</dcterms:created>
  <dcterms:modified xsi:type="dcterms:W3CDTF">2026-06-23T21:45:47Z</dcterms:modified>
</cp:coreProperties>
</file>